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70" r:id="rId9"/>
    <p:sldId id="268" r:id="rId10"/>
  </p:sldIdLst>
  <p:sldSz cx="9144000" cy="5143500" type="screen16x9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Raleway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1d2bf84a5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1d2bf84a5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73a04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73a04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288bfd4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288bfd4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1d2bf84a5_0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1d2bf84a5_0_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1d2bf84a5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1d2bf84a5_0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1d2bf84a5_0_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e1d2bf84a5_0_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0"/>
            <a:ext cx="9144000" cy="483900"/>
          </a:xfrm>
          <a:prstGeom prst="rect">
            <a:avLst/>
          </a:prstGeom>
          <a:solidFill>
            <a:srgbClr val="AFDA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30700" y="1190100"/>
            <a:ext cx="375600" cy="48000"/>
          </a:xfrm>
          <a:prstGeom prst="rect">
            <a:avLst/>
          </a:prstGeom>
          <a:solidFill>
            <a:srgbClr val="97BD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206300" y="1190100"/>
            <a:ext cx="375600" cy="48000"/>
          </a:xfrm>
          <a:prstGeom prst="rect">
            <a:avLst/>
          </a:prstGeom>
          <a:solidFill>
            <a:srgbClr val="C9F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" name="Google Shape;34;p4" title="coso swoosh carino.png"/>
          <p:cNvPicPr preferRelativeResize="0"/>
          <p:nvPr/>
        </p:nvPicPr>
        <p:blipFill rotWithShape="1">
          <a:blip r:embed="rId2">
            <a:alphaModFix/>
          </a:blip>
          <a:srcRect b="90946"/>
          <a:stretch/>
        </p:blipFill>
        <p:spPr>
          <a:xfrm>
            <a:off x="0" y="0"/>
            <a:ext cx="9144000" cy="4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8" name="Google Shape;38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1" name="Google Shape;61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8" name="Google Shape;68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9" name="Google Shape;79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 title="coso swoosh cari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Analysis of scientific publishing data</a:t>
            </a:r>
            <a:endParaRPr dirty="0"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5114100" y="3672250"/>
            <a:ext cx="3056700" cy="17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dirty="0"/>
              <a:t>Calori Dakota Davide</a:t>
            </a:r>
            <a:br>
              <a:rPr lang="it" sz="2400" dirty="0"/>
            </a:br>
            <a:r>
              <a:rPr lang="it" sz="2400" dirty="0"/>
              <a:t>Gigli Andrea</a:t>
            </a:r>
            <a:endParaRPr sz="2400" dirty="0"/>
          </a:p>
        </p:txBody>
      </p:sp>
      <p:sp>
        <p:nvSpPr>
          <p:cNvPr id="93" name="Google Shape;93;p13"/>
          <p:cNvSpPr/>
          <p:nvPr/>
        </p:nvSpPr>
        <p:spPr>
          <a:xfrm>
            <a:off x="830700" y="1190100"/>
            <a:ext cx="375600" cy="48000"/>
          </a:xfrm>
          <a:prstGeom prst="rect">
            <a:avLst/>
          </a:prstGeom>
          <a:solidFill>
            <a:srgbClr val="97BD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206300" y="1190100"/>
            <a:ext cx="375600" cy="48000"/>
          </a:xfrm>
          <a:prstGeom prst="rect">
            <a:avLst/>
          </a:prstGeom>
          <a:solidFill>
            <a:srgbClr val="C9F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300" dirty="0"/>
              <a:t>Introduction and objective</a:t>
            </a:r>
            <a:endParaRPr sz="2300"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729450" y="1853850"/>
            <a:ext cx="7731000" cy="2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it-IT" sz="1100" dirty="0"/>
              <a:t>Do </a:t>
            </a:r>
            <a:r>
              <a:rPr lang="it-IT" sz="1100" dirty="0" err="1"/>
              <a:t>scientific</a:t>
            </a:r>
            <a:r>
              <a:rPr lang="it-IT" sz="1100" dirty="0"/>
              <a:t> keywords show </a:t>
            </a:r>
            <a:r>
              <a:rPr lang="it-IT" sz="1100" dirty="0" err="1"/>
              <a:t>different</a:t>
            </a:r>
            <a:r>
              <a:rPr lang="it-IT" sz="1100" dirty="0"/>
              <a:t> gender </a:t>
            </a:r>
            <a:r>
              <a:rPr lang="it-IT" sz="1100" dirty="0" err="1"/>
              <a:t>associations</a:t>
            </a:r>
            <a:r>
              <a:rPr lang="it-IT" sz="1100" dirty="0"/>
              <a:t>, and are keywords </a:t>
            </a:r>
            <a:r>
              <a:rPr lang="it-IT" sz="1100" dirty="0" err="1"/>
              <a:t>connected</a:t>
            </a:r>
            <a:r>
              <a:rPr lang="it-IT" sz="1100" dirty="0"/>
              <a:t> </a:t>
            </a:r>
            <a:r>
              <a:rPr lang="it-IT" sz="1100" dirty="0" err="1"/>
              <a:t>according</a:t>
            </a:r>
            <a:r>
              <a:rPr lang="it-IT" sz="1100" dirty="0"/>
              <a:t> to </a:t>
            </a:r>
            <a:r>
              <a:rPr lang="it-IT" sz="1100" dirty="0" err="1"/>
              <a:t>how</a:t>
            </a:r>
            <a:r>
              <a:rPr lang="it-IT" sz="1100" dirty="0"/>
              <a:t> </a:t>
            </a:r>
            <a:r>
              <a:rPr lang="it-IT" sz="1100" dirty="0" err="1"/>
              <a:t>they</a:t>
            </a:r>
            <a:r>
              <a:rPr lang="it-IT" sz="1100" dirty="0"/>
              <a:t> are </a:t>
            </a:r>
            <a:r>
              <a:rPr lang="it-IT" sz="1100" dirty="0" err="1"/>
              <a:t>used</a:t>
            </a:r>
            <a:r>
              <a:rPr lang="it-IT" sz="1100" dirty="0"/>
              <a:t> in </a:t>
            </a:r>
            <a:r>
              <a:rPr lang="it-IT" sz="1100" dirty="0" err="1"/>
              <a:t>scientific</a:t>
            </a:r>
            <a:r>
              <a:rPr lang="it-IT" sz="1100" dirty="0"/>
              <a:t> writing?</a:t>
            </a:r>
          </a:p>
          <a:p>
            <a:r>
              <a:rPr lang="it-IT" sz="1100" dirty="0" err="1"/>
              <a:t>Instead</a:t>
            </a:r>
            <a:r>
              <a:rPr lang="it-IT" sz="1100" dirty="0"/>
              <a:t> of </a:t>
            </a:r>
            <a:r>
              <a:rPr lang="it-IT" sz="1100" dirty="0" err="1"/>
              <a:t>looking</a:t>
            </a:r>
            <a:r>
              <a:rPr lang="it-IT" sz="1100" dirty="0"/>
              <a:t> </a:t>
            </a:r>
            <a:r>
              <a:rPr lang="it-IT" sz="1100" dirty="0" err="1"/>
              <a:t>only</a:t>
            </a:r>
            <a:r>
              <a:rPr lang="it-IT" sz="1100" dirty="0"/>
              <a:t> </a:t>
            </a:r>
            <a:r>
              <a:rPr lang="it-IT" sz="1100" dirty="0" err="1"/>
              <a:t>at</a:t>
            </a:r>
            <a:r>
              <a:rPr lang="it-IT" sz="1100" dirty="0"/>
              <a:t> </a:t>
            </a:r>
            <a:r>
              <a:rPr lang="it-IT" sz="1100" dirty="0" err="1"/>
              <a:t>individual</a:t>
            </a:r>
            <a:r>
              <a:rPr lang="it-IT" sz="1100" dirty="0"/>
              <a:t> papers, </a:t>
            </a:r>
            <a:r>
              <a:rPr lang="it-IT" sz="1100" dirty="0" err="1"/>
              <a:t>we</a:t>
            </a:r>
            <a:r>
              <a:rPr lang="it-IT" sz="1100" dirty="0"/>
              <a:t> </a:t>
            </a:r>
            <a:r>
              <a:rPr lang="it-IT" sz="1100" dirty="0" err="1"/>
              <a:t>want</a:t>
            </a:r>
            <a:r>
              <a:rPr lang="it-IT" sz="1100" dirty="0"/>
              <a:t> to </a:t>
            </a:r>
            <a:r>
              <a:rPr lang="it-IT" sz="1100" dirty="0" err="1"/>
              <a:t>see</a:t>
            </a:r>
            <a:r>
              <a:rPr lang="it-IT" sz="1100" dirty="0"/>
              <a:t> </a:t>
            </a:r>
            <a:r>
              <a:rPr lang="it-IT" sz="1100" dirty="0" err="1"/>
              <a:t>whether</a:t>
            </a:r>
            <a:r>
              <a:rPr lang="it-IT" sz="1100" dirty="0"/>
              <a:t> keywords form </a:t>
            </a:r>
            <a:r>
              <a:rPr lang="it-IT" sz="1100" dirty="0" err="1"/>
              <a:t>meaningful</a:t>
            </a:r>
            <a:r>
              <a:rPr lang="it-IT" sz="1100" dirty="0"/>
              <a:t> </a:t>
            </a:r>
            <a:r>
              <a:rPr lang="it-IT" sz="1100" dirty="0" err="1"/>
              <a:t>structures</a:t>
            </a:r>
            <a:r>
              <a:rPr lang="it-IT" sz="1100" dirty="0"/>
              <a:t>, and </a:t>
            </a:r>
            <a:r>
              <a:rPr lang="it-IT" sz="1100" dirty="0" err="1"/>
              <a:t>whether</a:t>
            </a:r>
            <a:r>
              <a:rPr lang="it-IT" sz="1100" dirty="0"/>
              <a:t> </a:t>
            </a:r>
            <a:r>
              <a:rPr lang="it-IT" sz="1100" dirty="0" err="1"/>
              <a:t>those</a:t>
            </a:r>
            <a:r>
              <a:rPr lang="it-IT" sz="1100" dirty="0"/>
              <a:t> </a:t>
            </a:r>
            <a:r>
              <a:rPr lang="it-IT" sz="1100" dirty="0" err="1"/>
              <a:t>structures</a:t>
            </a:r>
            <a:r>
              <a:rPr lang="it-IT" sz="1100" dirty="0"/>
              <a:t> are </a:t>
            </a:r>
            <a:r>
              <a:rPr lang="it-IT" sz="1100" dirty="0" err="1"/>
              <a:t>related</a:t>
            </a:r>
            <a:r>
              <a:rPr lang="it-IT" sz="1100" dirty="0"/>
              <a:t> to gender and to the way concepts are </a:t>
            </a:r>
            <a:r>
              <a:rPr lang="it-IT" sz="1100" dirty="0" err="1"/>
              <a:t>described</a:t>
            </a:r>
            <a:r>
              <a:rPr lang="it-IT" sz="1100" dirty="0"/>
              <a:t> in </a:t>
            </a:r>
            <a:r>
              <a:rPr lang="it-IT" sz="1100" dirty="0" err="1"/>
              <a:t>scientific</a:t>
            </a:r>
            <a:r>
              <a:rPr lang="it-IT" sz="1100" dirty="0"/>
              <a:t> writing.</a:t>
            </a:r>
          </a:p>
          <a:p>
            <a:r>
              <a:rPr lang="it-IT" sz="1100" dirty="0" err="1"/>
              <a:t>Approach</a:t>
            </a:r>
            <a:endParaRPr lang="it-IT" sz="1100" dirty="0"/>
          </a:p>
          <a:p>
            <a:pPr lvl="1"/>
            <a:r>
              <a:rPr lang="it-IT" dirty="0" err="1"/>
              <a:t>Extract</a:t>
            </a:r>
            <a:r>
              <a:rPr lang="it-IT" dirty="0"/>
              <a:t> keywords from </a:t>
            </a:r>
            <a:r>
              <a:rPr lang="it-IT" dirty="0" err="1"/>
              <a:t>scientific</a:t>
            </a:r>
            <a:r>
              <a:rPr lang="it-IT" dirty="0"/>
              <a:t> abstracts </a:t>
            </a:r>
          </a:p>
          <a:p>
            <a:pPr lvl="1"/>
            <a:r>
              <a:rPr lang="it-IT" dirty="0" err="1"/>
              <a:t>Measure</a:t>
            </a:r>
            <a:r>
              <a:rPr lang="it-IT" dirty="0"/>
              <a:t> </a:t>
            </a:r>
            <a:r>
              <a:rPr lang="it-IT" b="1" dirty="0"/>
              <a:t>agency</a:t>
            </a:r>
            <a:r>
              <a:rPr lang="it-IT" dirty="0"/>
              <a:t> and </a:t>
            </a:r>
            <a:r>
              <a:rPr lang="it-IT" b="1" dirty="0" err="1"/>
              <a:t>communion</a:t>
            </a:r>
            <a:r>
              <a:rPr lang="it-IT" dirty="0"/>
              <a:t> </a:t>
            </a:r>
          </a:p>
          <a:p>
            <a:pPr lvl="1"/>
            <a:r>
              <a:rPr lang="it-IT" dirty="0" err="1"/>
              <a:t>Measure</a:t>
            </a:r>
            <a:r>
              <a:rPr lang="it-IT" dirty="0"/>
              <a:t> </a:t>
            </a:r>
            <a:r>
              <a:rPr lang="it-IT" b="1" dirty="0"/>
              <a:t>gender </a:t>
            </a:r>
            <a:r>
              <a:rPr lang="it-IT" b="1" dirty="0" err="1"/>
              <a:t>bias</a:t>
            </a:r>
            <a:r>
              <a:rPr lang="it-IT" dirty="0"/>
              <a:t> of keywords </a:t>
            </a:r>
          </a:p>
          <a:p>
            <a:pPr lvl="1"/>
            <a:r>
              <a:rPr lang="it-IT" dirty="0"/>
              <a:t>Build, compare and </a:t>
            </a:r>
            <a:r>
              <a:rPr lang="it-IT" dirty="0" err="1"/>
              <a:t>analyze</a:t>
            </a:r>
            <a:r>
              <a:rPr lang="it-IT" dirty="0"/>
              <a:t> the </a:t>
            </a:r>
            <a:r>
              <a:rPr lang="it-IT" dirty="0" err="1"/>
              <a:t>two</a:t>
            </a:r>
            <a:r>
              <a:rPr lang="it-IT" dirty="0"/>
              <a:t> keyword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300" dirty="0"/>
              <a:t>Dataset and keyword extraction</a:t>
            </a:r>
            <a:endParaRPr sz="2300" dirty="0"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729450" y="1853850"/>
            <a:ext cx="7685100" cy="27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it-IT" sz="1100" dirty="0"/>
              <a:t>The dataset </a:t>
            </a:r>
            <a:r>
              <a:rPr lang="it-IT" sz="1100" dirty="0" err="1"/>
              <a:t>contains</a:t>
            </a:r>
            <a:r>
              <a:rPr lang="it-IT" sz="1100" dirty="0"/>
              <a:t> </a:t>
            </a:r>
            <a:r>
              <a:rPr lang="it-IT" sz="1100" dirty="0" err="1"/>
              <a:t>two</a:t>
            </a:r>
            <a:r>
              <a:rPr lang="it-IT" sz="1100" dirty="0"/>
              <a:t> groups of papers: papers </a:t>
            </a:r>
            <a:r>
              <a:rPr lang="it-IT" sz="1100" dirty="0" err="1"/>
              <a:t>classified</a:t>
            </a:r>
            <a:r>
              <a:rPr lang="it-IT" sz="1100" dirty="0"/>
              <a:t> </a:t>
            </a:r>
            <a:r>
              <a:rPr lang="it-IT" sz="1100" dirty="0" err="1"/>
              <a:t>as</a:t>
            </a:r>
            <a:r>
              <a:rPr lang="it-IT" sz="1100" dirty="0"/>
              <a:t> male-</a:t>
            </a:r>
            <a:r>
              <a:rPr lang="it-IT" sz="1100" dirty="0" err="1"/>
              <a:t>only</a:t>
            </a:r>
            <a:r>
              <a:rPr lang="it-IT" sz="1100" dirty="0"/>
              <a:t> and </a:t>
            </a:r>
            <a:r>
              <a:rPr lang="it-IT" sz="1100" dirty="0" err="1"/>
              <a:t>female-only</a:t>
            </a:r>
            <a:r>
              <a:rPr lang="it-IT" sz="1100" dirty="0"/>
              <a:t>.</a:t>
            </a:r>
            <a:br>
              <a:rPr lang="it-IT" sz="1100" dirty="0"/>
            </a:br>
            <a:r>
              <a:rPr lang="it-IT" sz="1100" dirty="0" err="1"/>
              <a:t>There</a:t>
            </a:r>
            <a:r>
              <a:rPr lang="it-IT" sz="1100" dirty="0"/>
              <a:t> </a:t>
            </a:r>
            <a:r>
              <a:rPr lang="it-IT" sz="1100" dirty="0" err="1"/>
              <a:t>is</a:t>
            </a:r>
            <a:r>
              <a:rPr lang="it-IT" sz="1100" dirty="0"/>
              <a:t> a strong </a:t>
            </a:r>
            <a:r>
              <a:rPr lang="it-IT" sz="1100" dirty="0" err="1"/>
              <a:t>imbalance</a:t>
            </a:r>
            <a:r>
              <a:rPr lang="it-IT" sz="1100" dirty="0"/>
              <a:t> </a:t>
            </a:r>
            <a:r>
              <a:rPr lang="it-IT" sz="1100" dirty="0" err="1"/>
              <a:t>between</a:t>
            </a:r>
            <a:r>
              <a:rPr lang="it-IT" sz="1100" dirty="0"/>
              <a:t> the groups: </a:t>
            </a:r>
            <a:r>
              <a:rPr lang="it-IT" sz="1100" dirty="0" err="1"/>
              <a:t>about</a:t>
            </a:r>
            <a:r>
              <a:rPr lang="it-IT" sz="1100" dirty="0"/>
              <a:t> 372 </a:t>
            </a:r>
            <a:r>
              <a:rPr lang="it-IT" sz="1100" dirty="0" err="1"/>
              <a:t>thousand</a:t>
            </a:r>
            <a:r>
              <a:rPr lang="it-IT" sz="1100" dirty="0"/>
              <a:t> male-</a:t>
            </a:r>
            <a:r>
              <a:rPr lang="it-IT" sz="1100" dirty="0" err="1"/>
              <a:t>only</a:t>
            </a:r>
            <a:r>
              <a:rPr lang="it-IT" sz="1100" dirty="0"/>
              <a:t> papers versus 50 </a:t>
            </a:r>
            <a:r>
              <a:rPr lang="it-IT" sz="1100" dirty="0" err="1"/>
              <a:t>thousand</a:t>
            </a:r>
            <a:r>
              <a:rPr lang="it-IT" sz="1100" dirty="0"/>
              <a:t> </a:t>
            </a:r>
            <a:r>
              <a:rPr lang="it-IT" sz="1100" dirty="0" err="1"/>
              <a:t>female-only</a:t>
            </a:r>
            <a:r>
              <a:rPr lang="it-IT" sz="1100" dirty="0"/>
              <a:t> papers, so </a:t>
            </a:r>
            <a:r>
              <a:rPr lang="it-IT" sz="1100" dirty="0" err="1"/>
              <a:t>roughly</a:t>
            </a:r>
            <a:r>
              <a:rPr lang="it-IT" sz="1100" dirty="0"/>
              <a:t> </a:t>
            </a:r>
            <a:r>
              <a:rPr lang="it-IT" sz="1100" dirty="0" err="1"/>
              <a:t>seven</a:t>
            </a:r>
            <a:r>
              <a:rPr lang="it-IT" sz="1100" dirty="0"/>
              <a:t> times </a:t>
            </a:r>
            <a:r>
              <a:rPr lang="it-IT" sz="1100" dirty="0" err="1"/>
              <a:t>as</a:t>
            </a:r>
            <a:r>
              <a:rPr lang="it-IT" sz="1100" dirty="0"/>
              <a:t> </a:t>
            </a:r>
            <a:r>
              <a:rPr lang="it-IT" sz="1100" dirty="0" err="1"/>
              <a:t>many</a:t>
            </a:r>
            <a:r>
              <a:rPr lang="it-IT" sz="1100" dirty="0"/>
              <a:t> male papers.</a:t>
            </a:r>
          </a:p>
          <a:p>
            <a:r>
              <a:rPr lang="it-IT" sz="1100" dirty="0"/>
              <a:t>For papers </a:t>
            </a:r>
            <a:r>
              <a:rPr lang="it-IT" sz="1100" dirty="0" err="1"/>
              <a:t>that</a:t>
            </a:r>
            <a:r>
              <a:rPr lang="it-IT" sz="1100" dirty="0"/>
              <a:t> </a:t>
            </a:r>
            <a:r>
              <a:rPr lang="it-IT" sz="1100" dirty="0" err="1"/>
              <a:t>already</a:t>
            </a:r>
            <a:r>
              <a:rPr lang="it-IT" sz="1100" dirty="0"/>
              <a:t> </a:t>
            </a:r>
            <a:r>
              <a:rPr lang="it-IT" sz="1100" dirty="0" err="1"/>
              <a:t>had</a:t>
            </a:r>
            <a:r>
              <a:rPr lang="it-IT" sz="1100" dirty="0"/>
              <a:t> keywords, </a:t>
            </a:r>
            <a:r>
              <a:rPr lang="it-IT" sz="1100" dirty="0" err="1"/>
              <a:t>we</a:t>
            </a:r>
            <a:r>
              <a:rPr lang="it-IT" sz="1100" dirty="0"/>
              <a:t> </a:t>
            </a:r>
            <a:r>
              <a:rPr lang="it-IT" sz="1100" dirty="0" err="1"/>
              <a:t>used</a:t>
            </a:r>
            <a:r>
              <a:rPr lang="it-IT" sz="1100" dirty="0"/>
              <a:t> </a:t>
            </a:r>
            <a:r>
              <a:rPr lang="it-IT" sz="1100" dirty="0" err="1"/>
              <a:t>those</a:t>
            </a:r>
            <a:r>
              <a:rPr lang="it-IT" sz="1100" dirty="0"/>
              <a:t> keywords. </a:t>
            </a:r>
            <a:r>
              <a:rPr lang="it-IT" sz="1100" dirty="0" err="1"/>
              <a:t>When</a:t>
            </a:r>
            <a:r>
              <a:rPr lang="it-IT" sz="1100" dirty="0"/>
              <a:t> keywords </a:t>
            </a:r>
            <a:r>
              <a:rPr lang="it-IT" sz="1100" dirty="0" err="1"/>
              <a:t>were</a:t>
            </a:r>
            <a:r>
              <a:rPr lang="it-IT" sz="1100" dirty="0"/>
              <a:t> </a:t>
            </a:r>
            <a:r>
              <a:rPr lang="it-IT" sz="1100" dirty="0" err="1"/>
              <a:t>missing</a:t>
            </a:r>
            <a:r>
              <a:rPr lang="it-IT" sz="1100" dirty="0"/>
              <a:t> </a:t>
            </a:r>
            <a:r>
              <a:rPr lang="it-IT" sz="1100" dirty="0" err="1"/>
              <a:t>but</a:t>
            </a:r>
            <a:r>
              <a:rPr lang="it-IT" sz="1100" dirty="0"/>
              <a:t> an abstract </a:t>
            </a:r>
            <a:r>
              <a:rPr lang="it-IT" sz="1100" dirty="0" err="1"/>
              <a:t>was</a:t>
            </a:r>
            <a:r>
              <a:rPr lang="it-IT" sz="1100" dirty="0"/>
              <a:t> </a:t>
            </a:r>
            <a:r>
              <a:rPr lang="it-IT" sz="1100" dirty="0" err="1"/>
              <a:t>available</a:t>
            </a:r>
            <a:r>
              <a:rPr lang="it-IT" sz="1100" dirty="0"/>
              <a:t>, </a:t>
            </a:r>
            <a:r>
              <a:rPr lang="it-IT" sz="1100" dirty="0" err="1"/>
              <a:t>we</a:t>
            </a:r>
            <a:r>
              <a:rPr lang="it-IT" sz="1100" dirty="0"/>
              <a:t> </a:t>
            </a:r>
            <a:r>
              <a:rPr lang="it-IT" sz="1100" dirty="0" err="1"/>
              <a:t>extracted</a:t>
            </a:r>
            <a:r>
              <a:rPr lang="it-IT" sz="1100" dirty="0"/>
              <a:t> up to 10 keywords </a:t>
            </a:r>
            <a:r>
              <a:rPr lang="it-IT" sz="1100" dirty="0" err="1"/>
              <a:t>using</a:t>
            </a:r>
            <a:r>
              <a:rPr lang="it-IT" sz="1100" dirty="0"/>
              <a:t> </a:t>
            </a:r>
            <a:r>
              <a:rPr lang="it-IT" sz="1100" dirty="0" err="1"/>
              <a:t>KeyBERT</a:t>
            </a:r>
            <a:r>
              <a:rPr lang="it-IT" sz="1100" dirty="0"/>
              <a:t>.</a:t>
            </a:r>
          </a:p>
          <a:p>
            <a:r>
              <a:rPr lang="it-IT" sz="1100" dirty="0" err="1"/>
              <a:t>We</a:t>
            </a:r>
            <a:r>
              <a:rPr lang="it-IT" sz="1100" dirty="0"/>
              <a:t> </a:t>
            </a:r>
            <a:r>
              <a:rPr lang="it-IT" sz="1100" dirty="0" err="1"/>
              <a:t>also</a:t>
            </a:r>
            <a:r>
              <a:rPr lang="it-IT" sz="1100" dirty="0"/>
              <a:t> split abstracts </a:t>
            </a:r>
            <a:r>
              <a:rPr lang="it-IT" sz="1100" dirty="0" err="1"/>
              <a:t>into</a:t>
            </a:r>
            <a:r>
              <a:rPr lang="it-IT" sz="1100" dirty="0"/>
              <a:t> </a:t>
            </a:r>
            <a:r>
              <a:rPr lang="it-IT" sz="1100" dirty="0" err="1"/>
              <a:t>sentences</a:t>
            </a:r>
            <a:r>
              <a:rPr lang="it-IT" sz="1100" dirty="0"/>
              <a:t> </a:t>
            </a:r>
            <a:r>
              <a:rPr lang="it-IT" sz="1100" dirty="0" err="1"/>
              <a:t>because</a:t>
            </a:r>
            <a:r>
              <a:rPr lang="it-IT" sz="1100" dirty="0"/>
              <a:t> the semantic scoring models work </a:t>
            </a:r>
            <a:r>
              <a:rPr lang="it-IT" sz="1100" dirty="0" err="1"/>
              <a:t>at</a:t>
            </a:r>
            <a:r>
              <a:rPr lang="it-IT" sz="1100" dirty="0"/>
              <a:t> the </a:t>
            </a:r>
            <a:r>
              <a:rPr lang="it-IT" sz="1100" dirty="0" err="1"/>
              <a:t>sentence</a:t>
            </a:r>
            <a:r>
              <a:rPr lang="it-IT" sz="1100" dirty="0"/>
              <a:t> </a:t>
            </a:r>
            <a:r>
              <a:rPr lang="it-IT" sz="1100" dirty="0" err="1"/>
              <a:t>level</a:t>
            </a:r>
            <a:r>
              <a:rPr lang="it-IT" sz="1100" dirty="0"/>
              <a:t>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lang="it-IT" sz="1100" dirty="0"/>
          </a:p>
          <a:p>
            <a:r>
              <a:rPr lang="it-IT" sz="1100" b="1" dirty="0" err="1"/>
              <a:t>Missing</a:t>
            </a:r>
            <a:r>
              <a:rPr lang="it-IT" sz="1100" b="1" dirty="0"/>
              <a:t> data</a:t>
            </a:r>
            <a:endParaRPr lang="it-IT" sz="1100" dirty="0"/>
          </a:p>
          <a:p>
            <a:pPr lvl="1"/>
            <a:r>
              <a:rPr lang="it-IT" dirty="0"/>
              <a:t>Abstracts: 7.64% male / 10.88% </a:t>
            </a:r>
            <a:r>
              <a:rPr lang="it-IT" dirty="0" err="1"/>
              <a:t>female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Keywords: 14.27% male / 15.91% </a:t>
            </a:r>
            <a:r>
              <a:rPr lang="it-IT" dirty="0" err="1"/>
              <a:t>female</a:t>
            </a:r>
            <a:endParaRPr lang="it-IT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lang="it-IT" sz="1100" dirty="0"/>
          </a:p>
        </p:txBody>
      </p:sp>
      <p:sp>
        <p:nvSpPr>
          <p:cNvPr id="107" name="Google Shape;107;p15"/>
          <p:cNvSpPr/>
          <p:nvPr/>
        </p:nvSpPr>
        <p:spPr>
          <a:xfrm>
            <a:off x="830700" y="1190100"/>
            <a:ext cx="375600" cy="48000"/>
          </a:xfrm>
          <a:prstGeom prst="rect">
            <a:avLst/>
          </a:prstGeom>
          <a:solidFill>
            <a:srgbClr val="97BD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1206300" y="1190100"/>
            <a:ext cx="375600" cy="48000"/>
          </a:xfrm>
          <a:prstGeom prst="rect">
            <a:avLst/>
          </a:prstGeom>
          <a:solidFill>
            <a:srgbClr val="C9F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it-IT" dirty="0" err="1"/>
              <a:t>Measuring</a:t>
            </a:r>
            <a:r>
              <a:rPr lang="it-IT" dirty="0"/>
              <a:t> Agency, </a:t>
            </a:r>
            <a:r>
              <a:rPr lang="it-IT" dirty="0" err="1"/>
              <a:t>Communion</a:t>
            </a:r>
            <a:r>
              <a:rPr lang="it-IT" dirty="0"/>
              <a:t> and Gender Bias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Google Shape;115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9450" y="1857328"/>
                <a:ext cx="7487958" cy="292193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it-IT" sz="1100" b="1" dirty="0"/>
                  <a:t>Agency - </a:t>
                </a:r>
                <a:r>
                  <a:rPr lang="it-IT" sz="1100" b="1" dirty="0" err="1"/>
                  <a:t>BERTAgent</a:t>
                </a:r>
                <a:endParaRPr lang="it-IT" sz="1100" dirty="0"/>
              </a:p>
              <a:p>
                <a:pPr lvl="1"/>
                <a:r>
                  <a:rPr lang="it-IT" dirty="0"/>
                  <a:t>Scores the </a:t>
                </a:r>
                <a:r>
                  <a:rPr lang="it-IT" dirty="0" err="1"/>
                  <a:t>sentences</a:t>
                </a:r>
                <a:r>
                  <a:rPr lang="it-IT" dirty="0"/>
                  <a:t> </a:t>
                </a:r>
                <a:r>
                  <a:rPr lang="it-IT" dirty="0" err="1"/>
                  <a:t>where</a:t>
                </a:r>
                <a:r>
                  <a:rPr lang="it-IT" dirty="0"/>
                  <a:t> the keyword </a:t>
                </a:r>
                <a:r>
                  <a:rPr lang="it-IT" dirty="0" err="1"/>
                  <a:t>appears</a:t>
                </a:r>
                <a:r>
                  <a:rPr lang="it-IT" dirty="0"/>
                  <a:t> </a:t>
                </a:r>
              </a:p>
              <a:p>
                <a:pPr lvl="1"/>
                <a:r>
                  <a:rPr lang="it-IT" dirty="0"/>
                  <a:t>Keyword agency = </a:t>
                </a:r>
                <a:r>
                  <a:rPr lang="it-IT" dirty="0" err="1"/>
                  <a:t>mean</a:t>
                </a:r>
                <a:r>
                  <a:rPr lang="it-IT" dirty="0"/>
                  <a:t> agency </a:t>
                </a:r>
                <a:r>
                  <a:rPr lang="it-IT" dirty="0" err="1"/>
                  <a:t>across</a:t>
                </a:r>
                <a:r>
                  <a:rPr lang="it-IT" dirty="0"/>
                  <a:t> </a:t>
                </a:r>
                <a:r>
                  <a:rPr lang="it-IT" dirty="0" err="1"/>
                  <a:t>those</a:t>
                </a:r>
                <a:r>
                  <a:rPr lang="it-IT" dirty="0"/>
                  <a:t> </a:t>
                </a:r>
                <a:r>
                  <a:rPr lang="it-IT" dirty="0" err="1"/>
                  <a:t>sentences</a:t>
                </a:r>
                <a:r>
                  <a:rPr lang="it-IT" dirty="0"/>
                  <a:t> </a:t>
                </a:r>
              </a:p>
              <a:p>
                <a:r>
                  <a:rPr lang="it-IT" sz="1100" b="1" dirty="0" err="1"/>
                  <a:t>Communion</a:t>
                </a:r>
                <a:r>
                  <a:rPr lang="it-IT" sz="1100" b="1" dirty="0"/>
                  <a:t> – </a:t>
                </a:r>
                <a:r>
                  <a:rPr lang="it-IT" sz="1100" b="1" dirty="0" err="1"/>
                  <a:t>ContentCoder</a:t>
                </a:r>
                <a:r>
                  <a:rPr lang="it-IT" sz="1100" b="1" dirty="0"/>
                  <a:t> Agency-</a:t>
                </a:r>
                <a:r>
                  <a:rPr lang="it-IT" sz="1100" b="1" dirty="0" err="1"/>
                  <a:t>Communion</a:t>
                </a:r>
                <a:r>
                  <a:rPr lang="it-IT" sz="1100" b="1" dirty="0"/>
                  <a:t> Dictionary</a:t>
                </a:r>
              </a:p>
              <a:p>
                <a:pPr lvl="1"/>
                <a:r>
                  <a:rPr lang="it-IT" dirty="0"/>
                  <a:t>Same procedure </a:t>
                </a:r>
                <a:r>
                  <a:rPr lang="it-IT" dirty="0" err="1"/>
                  <a:t>at</a:t>
                </a:r>
                <a:r>
                  <a:rPr lang="it-IT" dirty="0"/>
                  <a:t> </a:t>
                </a:r>
                <a:r>
                  <a:rPr lang="it-IT" dirty="0" err="1"/>
                  <a:t>sentence</a:t>
                </a:r>
                <a:r>
                  <a:rPr lang="it-IT" dirty="0"/>
                  <a:t> </a:t>
                </a:r>
                <a:r>
                  <a:rPr lang="it-IT" dirty="0" err="1"/>
                  <a:t>level</a:t>
                </a:r>
                <a:r>
                  <a:rPr lang="it-IT" dirty="0"/>
                  <a:t> </a:t>
                </a:r>
              </a:p>
              <a:p>
                <a:pPr lvl="1"/>
                <a:r>
                  <a:rPr lang="it-IT" dirty="0"/>
                  <a:t>Keyword </a:t>
                </a:r>
                <a:r>
                  <a:rPr lang="it-IT" dirty="0" err="1"/>
                  <a:t>communion</a:t>
                </a:r>
                <a:r>
                  <a:rPr lang="it-IT" dirty="0"/>
                  <a:t> = </a:t>
                </a:r>
                <a:r>
                  <a:rPr lang="it-IT" dirty="0" err="1"/>
                  <a:t>mean</a:t>
                </a:r>
                <a:r>
                  <a:rPr lang="it-IT" dirty="0"/>
                  <a:t> </a:t>
                </a:r>
                <a:r>
                  <a:rPr lang="it-IT" dirty="0" err="1"/>
                  <a:t>communion</a:t>
                </a:r>
                <a:r>
                  <a:rPr lang="it-IT" dirty="0"/>
                  <a:t> </a:t>
                </a:r>
                <a:r>
                  <a:rPr lang="it-IT" dirty="0" err="1"/>
                  <a:t>across</a:t>
                </a:r>
                <a:r>
                  <a:rPr lang="it-IT" dirty="0"/>
                  <a:t> </a:t>
                </a:r>
                <a:r>
                  <a:rPr lang="it-IT" dirty="0" err="1"/>
                  <a:t>those</a:t>
                </a:r>
                <a:r>
                  <a:rPr lang="it-IT" dirty="0"/>
                  <a:t> </a:t>
                </a:r>
                <a:r>
                  <a:rPr lang="it-IT" dirty="0" err="1"/>
                  <a:t>sentences</a:t>
                </a:r>
                <a:r>
                  <a:rPr lang="it-IT" dirty="0"/>
                  <a:t> </a:t>
                </a:r>
              </a:p>
              <a:p>
                <a:r>
                  <a:rPr lang="it-IT" sz="1100" b="1" dirty="0"/>
                  <a:t>Gender </a:t>
                </a:r>
                <a:r>
                  <a:rPr lang="it-IT" sz="1100" b="1" dirty="0" err="1"/>
                  <a:t>bias</a:t>
                </a:r>
                <a:endParaRPr lang="it-IT" sz="1100" b="1" dirty="0"/>
              </a:p>
              <a:p>
                <a:pPr lvl="1"/>
                <a:r>
                  <a:rPr lang="it-IT" i="1" dirty="0"/>
                  <a:t>How </a:t>
                </a:r>
                <a:r>
                  <a:rPr lang="it-IT" i="1" dirty="0" err="1"/>
                  <a:t>frequently</a:t>
                </a:r>
                <a:r>
                  <a:rPr lang="it-IT" i="1" dirty="0"/>
                  <a:t> a word </a:t>
                </a:r>
                <a:r>
                  <a:rPr lang="it-IT" i="1" dirty="0" err="1"/>
                  <a:t>appears</a:t>
                </a:r>
                <a:r>
                  <a:rPr lang="it-IT" i="1" dirty="0"/>
                  <a:t> in male vs </a:t>
                </a:r>
                <a:r>
                  <a:rPr lang="it-IT" i="1" dirty="0" err="1"/>
                  <a:t>female</a:t>
                </a:r>
                <a:r>
                  <a:rPr lang="it-IT" i="1" dirty="0"/>
                  <a:t> papers</a:t>
                </a:r>
              </a:p>
              <a:p>
                <a:pPr lvl="1"/>
                <a:r>
                  <a:rPr lang="it-IT" i="1" dirty="0" err="1"/>
                  <a:t>Normalization</a:t>
                </a:r>
                <a:r>
                  <a:rPr lang="it-IT" i="1" dirty="0"/>
                  <a:t> </a:t>
                </a:r>
                <a:r>
                  <a:rPr lang="it-IT" i="1" dirty="0" err="1"/>
                  <a:t>based</a:t>
                </a:r>
                <a:r>
                  <a:rPr lang="it-IT" i="1" dirty="0"/>
                  <a:t> on the </a:t>
                </a:r>
                <a:r>
                  <a:rPr lang="it-IT" i="1" dirty="0" err="1"/>
                  <a:t>number</a:t>
                </a:r>
                <a:r>
                  <a:rPr lang="it-IT" i="1" dirty="0"/>
                  <a:t> of papers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i="1"/>
                      <m:t>𝐺𝐵</m:t>
                    </m:r>
                    <m:r>
                      <a:rPr lang="it-IT"/>
                      <m:t>=</m:t>
                    </m:r>
                    <m:f>
                      <m:fPr>
                        <m:ctrlPr>
                          <a:rPr lang="it-IT" i="1"/>
                        </m:ctrlPr>
                      </m:fPr>
                      <m:num>
                        <m:sSub>
                          <m:sSubPr>
                            <m:ctrlPr>
                              <a:rPr lang="it-IT" i="1"/>
                            </m:ctrlPr>
                          </m:sSubPr>
                          <m:e>
                            <m:r>
                              <a:rPr lang="it-IT" i="1"/>
                              <m:t>𝑝</m:t>
                            </m:r>
                          </m:e>
                          <m:sub>
                            <m:r>
                              <a:rPr lang="it-IT" i="1"/>
                              <m:t>𝑚𝑎𝑙𝑒</m:t>
                            </m:r>
                          </m:sub>
                        </m:sSub>
                        <m:r>
                          <a:rPr lang="it-IT"/>
                          <m:t>−</m:t>
                        </m:r>
                        <m:sSub>
                          <m:sSubPr>
                            <m:ctrlPr>
                              <a:rPr lang="it-IT" i="1"/>
                            </m:ctrlPr>
                          </m:sSubPr>
                          <m:e>
                            <m:r>
                              <a:rPr lang="it-IT" i="1"/>
                              <m:t>𝑝</m:t>
                            </m:r>
                          </m:e>
                          <m:sub>
                            <m:r>
                              <a:rPr lang="it-IT" i="1"/>
                              <m:t>𝑓𝑒𝑚𝑎𝑙𝑒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i="1"/>
                            </m:ctrlPr>
                          </m:sSubPr>
                          <m:e>
                            <m:r>
                              <a:rPr lang="it-IT" i="1"/>
                              <m:t>𝑝</m:t>
                            </m:r>
                          </m:e>
                          <m:sub>
                            <m:r>
                              <a:rPr lang="it-IT" i="1"/>
                              <m:t>𝑚𝑎𝑙𝑒</m:t>
                            </m:r>
                          </m:sub>
                        </m:sSub>
                        <m:r>
                          <a:rPr lang="it-IT"/>
                          <m:t>+</m:t>
                        </m:r>
                        <m:sSub>
                          <m:sSubPr>
                            <m:ctrlPr>
                              <a:rPr lang="it-IT" i="1"/>
                            </m:ctrlPr>
                          </m:sSubPr>
                          <m:e>
                            <m:r>
                              <a:rPr lang="it-IT" i="1"/>
                              <m:t>𝑝</m:t>
                            </m:r>
                          </m:e>
                          <m:sub>
                            <m:r>
                              <a:rPr lang="it-IT" i="1"/>
                              <m:t>𝑓𝑒𝑚𝑎𝑙𝑒</m:t>
                            </m:r>
                          </m:sub>
                        </m:sSub>
                      </m:den>
                    </m:f>
                  </m:oMath>
                </a14:m>
                <a:endParaRPr lang="it-IT" dirty="0"/>
              </a:p>
              <a:p>
                <a:pPr lvl="2"/>
                <a:r>
                  <a:rPr lang="it-IT" b="1" dirty="0"/>
                  <a:t>+1</a:t>
                </a:r>
                <a:r>
                  <a:rPr lang="it-IT" dirty="0"/>
                  <a:t> → </a:t>
                </a:r>
                <a:r>
                  <a:rPr lang="it-IT" dirty="0" err="1"/>
                  <a:t>only</a:t>
                </a:r>
                <a:r>
                  <a:rPr lang="it-IT" dirty="0"/>
                  <a:t> male papers </a:t>
                </a:r>
              </a:p>
              <a:p>
                <a:pPr lvl="2"/>
                <a:r>
                  <a:rPr lang="it-IT" b="1" dirty="0"/>
                  <a:t>−1</a:t>
                </a:r>
                <a:r>
                  <a:rPr lang="it-IT" dirty="0"/>
                  <a:t> → </a:t>
                </a:r>
                <a:r>
                  <a:rPr lang="it-IT" dirty="0" err="1"/>
                  <a:t>only</a:t>
                </a:r>
                <a:r>
                  <a:rPr lang="it-IT" dirty="0"/>
                  <a:t> </a:t>
                </a:r>
                <a:r>
                  <a:rPr lang="it-IT" dirty="0" err="1"/>
                  <a:t>female</a:t>
                </a:r>
                <a:r>
                  <a:rPr lang="it-IT" dirty="0"/>
                  <a:t> papers </a:t>
                </a:r>
              </a:p>
              <a:p>
                <a:pPr lvl="2"/>
                <a:r>
                  <a:rPr lang="it-IT" b="1" dirty="0"/>
                  <a:t>0</a:t>
                </a:r>
                <a:r>
                  <a:rPr lang="it-IT" dirty="0"/>
                  <a:t> → </a:t>
                </a:r>
                <a:r>
                  <a:rPr lang="it-IT" dirty="0" err="1"/>
                  <a:t>balanced</a:t>
                </a:r>
                <a:r>
                  <a:rPr lang="it-IT" dirty="0"/>
                  <a:t> after </a:t>
                </a:r>
                <a:r>
                  <a:rPr lang="it-IT" dirty="0" err="1"/>
                  <a:t>normalization</a:t>
                </a:r>
                <a:endParaRPr lang="it-IT" dirty="0"/>
              </a:p>
              <a:p>
                <a:pPr marL="45720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300"/>
                  <a:buChar char="●"/>
                </a:pPr>
                <a:endParaRPr lang="it" sz="1100" dirty="0"/>
              </a:p>
            </p:txBody>
          </p:sp>
        </mc:Choice>
        <mc:Fallback>
          <p:sp>
            <p:nvSpPr>
              <p:cNvPr id="115" name="Google Shape;115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9450" y="1857328"/>
                <a:ext cx="7487958" cy="2921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Gender bias</a:t>
            </a:r>
            <a:endParaRPr dirty="0"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725850" y="1850198"/>
            <a:ext cx="3660296" cy="22121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1100" dirty="0"/>
              <a:t>The gender-</a:t>
            </a:r>
            <a:r>
              <a:rPr lang="it-IT" sz="1100" dirty="0" err="1"/>
              <a:t>bias</a:t>
            </a:r>
            <a:r>
              <a:rPr lang="it-IT" sz="1100" dirty="0"/>
              <a:t> score </a:t>
            </a:r>
            <a:r>
              <a:rPr lang="it-IT" sz="1100" dirty="0" err="1"/>
              <a:t>gives</a:t>
            </a:r>
            <a:r>
              <a:rPr lang="it-IT" sz="1100" dirty="0"/>
              <a:t> </a:t>
            </a:r>
            <a:r>
              <a:rPr lang="it-IT" sz="1100" dirty="0" err="1"/>
              <a:t>us</a:t>
            </a:r>
            <a:r>
              <a:rPr lang="it-IT" sz="1100" dirty="0"/>
              <a:t> a first picture of the </a:t>
            </a:r>
            <a:r>
              <a:rPr lang="it-IT" sz="1100" dirty="0" err="1"/>
              <a:t>differences</a:t>
            </a:r>
            <a:r>
              <a:rPr lang="it-IT" sz="1100" dirty="0"/>
              <a:t> </a:t>
            </a:r>
            <a:r>
              <a:rPr lang="it-IT" sz="1100" dirty="0" err="1"/>
              <a:t>between</a:t>
            </a:r>
            <a:r>
              <a:rPr lang="it-IT" sz="1100" dirty="0"/>
              <a:t> the </a:t>
            </a:r>
            <a:r>
              <a:rPr lang="it-IT" sz="1100" dirty="0" err="1"/>
              <a:t>two</a:t>
            </a:r>
            <a:r>
              <a:rPr lang="it-IT" sz="1100" dirty="0"/>
              <a:t> groups.</a:t>
            </a:r>
          </a:p>
          <a:p>
            <a:r>
              <a:rPr lang="it-IT" sz="1100" dirty="0" err="1"/>
              <a:t>These</a:t>
            </a:r>
            <a:r>
              <a:rPr lang="it-IT" sz="1100" dirty="0"/>
              <a:t> </a:t>
            </a:r>
            <a:r>
              <a:rPr lang="it-IT" sz="1100" dirty="0" err="1"/>
              <a:t>values</a:t>
            </a:r>
            <a:r>
              <a:rPr lang="it-IT" sz="1100" dirty="0"/>
              <a:t> </a:t>
            </a:r>
            <a:r>
              <a:rPr lang="it-IT" sz="1100" dirty="0" err="1"/>
              <a:t>should</a:t>
            </a:r>
            <a:r>
              <a:rPr lang="it-IT" sz="1100" dirty="0"/>
              <a:t> be </a:t>
            </a:r>
            <a:r>
              <a:rPr lang="it-IT" sz="1100" dirty="0" err="1"/>
              <a:t>interpreted</a:t>
            </a:r>
            <a:r>
              <a:rPr lang="it-IT" sz="1100" dirty="0"/>
              <a:t> </a:t>
            </a:r>
            <a:r>
              <a:rPr lang="it-IT" sz="1100" dirty="0" err="1"/>
              <a:t>as</a:t>
            </a:r>
            <a:r>
              <a:rPr lang="it-IT" sz="1100" dirty="0"/>
              <a:t> </a:t>
            </a:r>
            <a:r>
              <a:rPr lang="it-IT" sz="1100" b="1" dirty="0" err="1"/>
              <a:t>differences</a:t>
            </a:r>
            <a:r>
              <a:rPr lang="it-IT" sz="1100" b="1" dirty="0"/>
              <a:t> in the </a:t>
            </a:r>
            <a:r>
              <a:rPr lang="it-IT" sz="1100" b="1" dirty="0" err="1"/>
              <a:t>distribution</a:t>
            </a:r>
            <a:r>
              <a:rPr lang="it-IT" sz="1100" b="1" dirty="0"/>
              <a:t> of keywords </a:t>
            </a:r>
            <a:r>
              <a:rPr lang="it-IT" sz="1100" b="1" dirty="0" err="1"/>
              <a:t>across</a:t>
            </a:r>
            <a:r>
              <a:rPr lang="it-IT" sz="1100" b="1" dirty="0"/>
              <a:t> the </a:t>
            </a:r>
            <a:r>
              <a:rPr lang="it-IT" sz="1100" b="1" dirty="0" err="1"/>
              <a:t>two</a:t>
            </a:r>
            <a:r>
              <a:rPr lang="it-IT" sz="1100" b="1" dirty="0"/>
              <a:t> datasets</a:t>
            </a:r>
            <a:r>
              <a:rPr lang="it-IT" sz="1100" dirty="0"/>
              <a:t>, </a:t>
            </a:r>
            <a:r>
              <a:rPr lang="it-IT" sz="1100" dirty="0" err="1"/>
              <a:t>rather</a:t>
            </a:r>
            <a:r>
              <a:rPr lang="it-IT" sz="1100" dirty="0"/>
              <a:t> </a:t>
            </a:r>
            <a:r>
              <a:rPr lang="it-IT" sz="1100" dirty="0" err="1"/>
              <a:t>than</a:t>
            </a:r>
            <a:r>
              <a:rPr lang="it-IT" sz="1100" dirty="0"/>
              <a:t> </a:t>
            </a:r>
            <a:r>
              <a:rPr lang="it-IT" sz="1100" dirty="0" err="1"/>
              <a:t>as</a:t>
            </a:r>
            <a:r>
              <a:rPr lang="it-IT" sz="1100" dirty="0"/>
              <a:t> </a:t>
            </a:r>
            <a:r>
              <a:rPr lang="it-IT" sz="1100" dirty="0" err="1"/>
              <a:t>evidence</a:t>
            </a:r>
            <a:r>
              <a:rPr lang="it-IT" sz="1100" dirty="0"/>
              <a:t> </a:t>
            </a:r>
            <a:r>
              <a:rPr lang="it-IT" sz="1100" dirty="0" err="1"/>
              <a:t>that</a:t>
            </a:r>
            <a:r>
              <a:rPr lang="it-IT" sz="1100" dirty="0"/>
              <a:t> a </a:t>
            </a:r>
            <a:r>
              <a:rPr lang="it-IT" sz="1100" dirty="0" err="1"/>
              <a:t>topic</a:t>
            </a:r>
            <a:r>
              <a:rPr lang="it-IT" sz="1100" dirty="0"/>
              <a:t> </a:t>
            </a:r>
            <a:r>
              <a:rPr lang="it-IT" sz="1100" dirty="0" err="1"/>
              <a:t>is</a:t>
            </a:r>
            <a:r>
              <a:rPr lang="it-IT" sz="1100" dirty="0"/>
              <a:t> </a:t>
            </a:r>
            <a:r>
              <a:rPr lang="it-IT" sz="1100" dirty="0" err="1"/>
              <a:t>inherently</a:t>
            </a:r>
            <a:r>
              <a:rPr lang="it-IT" sz="1100" dirty="0"/>
              <a:t> male or </a:t>
            </a:r>
            <a:r>
              <a:rPr lang="it-IT" sz="1100" dirty="0" err="1"/>
              <a:t>female</a:t>
            </a:r>
            <a:r>
              <a:rPr lang="it-IT" sz="1100" dirty="0"/>
              <a:t>.</a:t>
            </a:r>
          </a:p>
          <a:p>
            <a:r>
              <a:rPr lang="it-IT" sz="1100" dirty="0" err="1"/>
              <a:t>This</a:t>
            </a:r>
            <a:r>
              <a:rPr lang="it-IT" sz="1100" dirty="0"/>
              <a:t> </a:t>
            </a:r>
            <a:r>
              <a:rPr lang="it-IT" sz="1100" dirty="0" err="1"/>
              <a:t>motivates</a:t>
            </a:r>
            <a:r>
              <a:rPr lang="it-IT" sz="1100" dirty="0"/>
              <a:t> the network </a:t>
            </a:r>
            <a:r>
              <a:rPr lang="it-IT" sz="1100" dirty="0" err="1"/>
              <a:t>analysis</a:t>
            </a:r>
            <a:r>
              <a:rPr lang="it-IT" sz="1100" dirty="0"/>
              <a:t>: </a:t>
            </a:r>
            <a:r>
              <a:rPr lang="it-IT" sz="1100" dirty="0" err="1"/>
              <a:t>instead</a:t>
            </a:r>
            <a:r>
              <a:rPr lang="it-IT" sz="1100" dirty="0"/>
              <a:t> of </a:t>
            </a:r>
            <a:r>
              <a:rPr lang="it-IT" sz="1100" dirty="0" err="1"/>
              <a:t>looking</a:t>
            </a:r>
            <a:r>
              <a:rPr lang="it-IT" sz="1100" dirty="0"/>
              <a:t> </a:t>
            </a:r>
            <a:r>
              <a:rPr lang="it-IT" sz="1100" dirty="0" err="1"/>
              <a:t>at</a:t>
            </a:r>
            <a:r>
              <a:rPr lang="it-IT" sz="1100" dirty="0"/>
              <a:t> keywords </a:t>
            </a:r>
            <a:r>
              <a:rPr lang="it-IT" sz="1100" dirty="0" err="1"/>
              <a:t>individually</a:t>
            </a:r>
            <a:r>
              <a:rPr lang="it-IT" sz="1100" dirty="0"/>
              <a:t>, can </a:t>
            </a:r>
            <a:r>
              <a:rPr lang="it-IT" sz="1100" dirty="0" err="1"/>
              <a:t>we</a:t>
            </a:r>
            <a:r>
              <a:rPr lang="it-IT" sz="1100" dirty="0"/>
              <a:t> </a:t>
            </a:r>
            <a:r>
              <a:rPr lang="it-IT" sz="1100" dirty="0" err="1"/>
              <a:t>see</a:t>
            </a:r>
            <a:r>
              <a:rPr lang="it-IT" sz="1100" dirty="0"/>
              <a:t> clusters of </a:t>
            </a:r>
            <a:r>
              <a:rPr lang="it-IT" sz="1100" dirty="0" err="1"/>
              <a:t>related</a:t>
            </a:r>
            <a:r>
              <a:rPr lang="it-IT" sz="1100" dirty="0"/>
              <a:t> concepts with </a:t>
            </a:r>
            <a:r>
              <a:rPr lang="it-IT" sz="1100" dirty="0" err="1"/>
              <a:t>similar</a:t>
            </a:r>
            <a:r>
              <a:rPr lang="it-IT" sz="1100" dirty="0"/>
              <a:t> patterns?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sz="11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D0C8065-6AD1-D9C2-7370-A545470D3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79671"/>
              </p:ext>
            </p:extLst>
          </p:nvPr>
        </p:nvGraphicFramePr>
        <p:xfrm>
          <a:off x="4635010" y="1931973"/>
          <a:ext cx="4267202" cy="25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1">
                  <a:extLst>
                    <a:ext uri="{9D8B030D-6E8A-4147-A177-3AD203B41FA5}">
                      <a16:colId xmlns:a16="http://schemas.microsoft.com/office/drawing/2014/main" val="1642872187"/>
                    </a:ext>
                  </a:extLst>
                </a:gridCol>
                <a:gridCol w="2133601">
                  <a:extLst>
                    <a:ext uri="{9D8B030D-6E8A-4147-A177-3AD203B41FA5}">
                      <a16:colId xmlns:a16="http://schemas.microsoft.com/office/drawing/2014/main" val="1617489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More male-</a:t>
                      </a:r>
                      <a:r>
                        <a:rPr lang="it-IT" dirty="0" err="1"/>
                        <a:t>leaning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More </a:t>
                      </a:r>
                      <a:r>
                        <a:rPr lang="it-IT" dirty="0" err="1"/>
                        <a:t>female-leaning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28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dirty="0" err="1"/>
                        <a:t>Reinforcement</a:t>
                      </a:r>
                      <a:r>
                        <a:rPr lang="it-IT" dirty="0"/>
                        <a:t> learning → </a:t>
                      </a:r>
                      <a:r>
                        <a:rPr lang="it-IT" b="1" dirty="0"/>
                        <a:t>+0.46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dirty="0" err="1"/>
                        <a:t>higher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education</a:t>
                      </a:r>
                      <a:r>
                        <a:rPr lang="it-IT" dirty="0"/>
                        <a:t> → </a:t>
                      </a:r>
                      <a:r>
                        <a:rPr lang="it-IT" b="1" dirty="0"/>
                        <a:t>−0.74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69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dirty="0"/>
                        <a:t>5G → </a:t>
                      </a:r>
                      <a:r>
                        <a:rPr lang="it-IT" b="1" dirty="0"/>
                        <a:t>+0.39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dirty="0" err="1"/>
                        <a:t>technology</a:t>
                      </a:r>
                      <a:r>
                        <a:rPr lang="it-IT" dirty="0"/>
                        <a:t> → </a:t>
                      </a:r>
                      <a:r>
                        <a:rPr lang="it-IT" b="1" dirty="0"/>
                        <a:t>−0.63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23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dirty="0" err="1"/>
                        <a:t>neural</a:t>
                      </a:r>
                      <a:r>
                        <a:rPr lang="it-IT" dirty="0"/>
                        <a:t> networks → </a:t>
                      </a:r>
                      <a:r>
                        <a:rPr lang="it-IT" b="1" dirty="0"/>
                        <a:t>+0.37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dirty="0" err="1"/>
                        <a:t>education</a:t>
                      </a:r>
                      <a:r>
                        <a:rPr lang="it-IT" dirty="0"/>
                        <a:t> → </a:t>
                      </a:r>
                      <a:r>
                        <a:rPr lang="it-IT" b="1" dirty="0"/>
                        <a:t>−0.58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69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dirty="0" err="1"/>
                        <a:t>simulation</a:t>
                      </a:r>
                      <a:r>
                        <a:rPr lang="it-IT" dirty="0"/>
                        <a:t> → </a:t>
                      </a:r>
                      <a:r>
                        <a:rPr lang="it-IT" b="1" dirty="0"/>
                        <a:t>+0.25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dirty="0"/>
                        <a:t>social media → </a:t>
                      </a:r>
                      <a:r>
                        <a:rPr lang="it-IT" b="1" dirty="0"/>
                        <a:t>−0.57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703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dirty="0" err="1"/>
                        <a:t>optimization</a:t>
                      </a:r>
                      <a:r>
                        <a:rPr lang="it-IT" dirty="0"/>
                        <a:t> → </a:t>
                      </a:r>
                      <a:r>
                        <a:rPr lang="it-IT" b="1" dirty="0"/>
                        <a:t>+0.24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dirty="0"/>
                        <a:t>data mining → </a:t>
                      </a:r>
                      <a:r>
                        <a:rPr lang="it-IT" b="1" dirty="0"/>
                        <a:t>−0.40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3128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it-IT" dirty="0"/>
              <a:t>Network </a:t>
            </a:r>
            <a:r>
              <a:rPr lang="it-IT" dirty="0" err="1"/>
              <a:t>structure</a:t>
            </a:r>
            <a:endParaRPr dirty="0"/>
          </a:p>
        </p:txBody>
      </p:sp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727650" y="1853850"/>
            <a:ext cx="3844350" cy="17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it-IT" sz="1100" b="1" dirty="0"/>
              <a:t>Network 1 — Co-</a:t>
            </a:r>
            <a:r>
              <a:rPr lang="it-IT" sz="1100" b="1" dirty="0" err="1"/>
              <a:t>occurrence</a:t>
            </a:r>
            <a:endParaRPr lang="it-IT" sz="1100" dirty="0"/>
          </a:p>
          <a:p>
            <a:pPr lvl="1"/>
            <a:r>
              <a:rPr lang="it-IT" b="1" dirty="0"/>
              <a:t>Nodes:</a:t>
            </a:r>
            <a:r>
              <a:rPr lang="it-IT" dirty="0"/>
              <a:t> keywords</a:t>
            </a:r>
          </a:p>
          <a:p>
            <a:pPr lvl="1"/>
            <a:r>
              <a:rPr lang="it-IT" b="1" dirty="0" err="1"/>
              <a:t>Edges</a:t>
            </a:r>
            <a:r>
              <a:rPr lang="it-IT" b="1" dirty="0"/>
              <a:t>: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keywords </a:t>
            </a:r>
            <a:r>
              <a:rPr lang="it-IT" dirty="0" err="1"/>
              <a:t>appear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paper</a:t>
            </a:r>
          </a:p>
          <a:p>
            <a:pPr lvl="1"/>
            <a:r>
              <a:rPr lang="it-IT" b="1" dirty="0"/>
              <a:t>Weight: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shared</a:t>
            </a:r>
            <a:r>
              <a:rPr lang="it-IT" dirty="0"/>
              <a:t> papers</a:t>
            </a:r>
          </a:p>
        </p:txBody>
      </p:sp>
      <p:sp>
        <p:nvSpPr>
          <p:cNvPr id="2" name="Google Shape;139;p19">
            <a:extLst>
              <a:ext uri="{FF2B5EF4-FFF2-40B4-BE49-F238E27FC236}">
                <a16:creationId xmlns:a16="http://schemas.microsoft.com/office/drawing/2014/main" id="{8A3E0D3B-D373-1AF4-3C79-989FEC65A993}"/>
              </a:ext>
            </a:extLst>
          </p:cNvPr>
          <p:cNvSpPr txBox="1">
            <a:spLocks/>
          </p:cNvSpPr>
          <p:nvPr/>
        </p:nvSpPr>
        <p:spPr>
          <a:xfrm>
            <a:off x="4572000" y="1853850"/>
            <a:ext cx="3844350" cy="17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it-IT" sz="1100" b="1" dirty="0"/>
              <a:t>Network 2 — Semantic </a:t>
            </a:r>
            <a:r>
              <a:rPr lang="it-IT" sz="1100" b="1" dirty="0" err="1"/>
              <a:t>correlation</a:t>
            </a:r>
            <a:endParaRPr lang="it-IT" sz="1100" dirty="0"/>
          </a:p>
          <a:p>
            <a:pPr lvl="1"/>
            <a:r>
              <a:rPr lang="it-IT" b="1" dirty="0"/>
              <a:t>Nodes:</a:t>
            </a:r>
            <a:r>
              <a:rPr lang="it-IT" dirty="0"/>
              <a:t> keywords</a:t>
            </a:r>
          </a:p>
          <a:p>
            <a:pPr lvl="1"/>
            <a:r>
              <a:rPr lang="it-IT" b="1" dirty="0" err="1"/>
              <a:t>Edges</a:t>
            </a:r>
            <a:r>
              <a:rPr lang="it-IT" b="1" dirty="0"/>
              <a:t>:</a:t>
            </a:r>
            <a:r>
              <a:rPr lang="it-IT" dirty="0"/>
              <a:t> positive </a:t>
            </a:r>
            <a:r>
              <a:rPr lang="it-IT" dirty="0" err="1"/>
              <a:t>correlation</a:t>
            </a:r>
            <a:r>
              <a:rPr lang="it-IT" dirty="0"/>
              <a:t> in </a:t>
            </a:r>
            <a:r>
              <a:rPr lang="it-IT" dirty="0" err="1"/>
              <a:t>both</a:t>
            </a:r>
            <a:r>
              <a:rPr lang="it-IT" dirty="0"/>
              <a:t> agency and </a:t>
            </a:r>
            <a:r>
              <a:rPr lang="it-IT" dirty="0" err="1"/>
              <a:t>communion</a:t>
            </a:r>
            <a:endParaRPr lang="it-IT" dirty="0"/>
          </a:p>
          <a:p>
            <a:pPr lvl="1"/>
            <a:r>
              <a:rPr lang="it-IT" b="1" dirty="0"/>
              <a:t>Weight:</a:t>
            </a:r>
            <a:r>
              <a:rPr lang="it-IT" dirty="0"/>
              <a:t> agency </a:t>
            </a:r>
            <a:r>
              <a:rPr lang="it-IT" dirty="0" err="1"/>
              <a:t>correlation</a:t>
            </a:r>
            <a:endParaRPr lang="it-IT" dirty="0"/>
          </a:p>
          <a:p>
            <a:pPr lvl="1"/>
            <a:r>
              <a:rPr lang="it-IT" b="1" dirty="0"/>
              <a:t>Minimum </a:t>
            </a:r>
            <a:r>
              <a:rPr lang="it-IT" b="1" dirty="0" err="1"/>
              <a:t>overlap</a:t>
            </a:r>
            <a:r>
              <a:rPr lang="it-IT" b="1" dirty="0"/>
              <a:t> for </a:t>
            </a:r>
            <a:r>
              <a:rPr lang="it-IT" b="1" dirty="0" err="1"/>
              <a:t>analysis</a:t>
            </a:r>
            <a:r>
              <a:rPr lang="it-IT" b="1" dirty="0"/>
              <a:t>:</a:t>
            </a:r>
            <a:r>
              <a:rPr lang="it-IT" dirty="0"/>
              <a:t> 5 papers</a:t>
            </a:r>
          </a:p>
          <a:p>
            <a:pPr indent="0">
              <a:spcBef>
                <a:spcPts val="1200"/>
              </a:spcBef>
              <a:spcAft>
                <a:spcPts val="1200"/>
              </a:spcAft>
              <a:buFont typeface="Lato"/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1EBED-93E1-FF50-7570-64A42640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Network </a:t>
            </a:r>
            <a:r>
              <a:rPr lang="it-IT" dirty="0" err="1"/>
              <a:t>structure</a:t>
            </a:r>
            <a:endParaRPr lang="it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FF791-8728-1B69-86C1-39661F0C1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850" y="1853850"/>
            <a:ext cx="4044174" cy="2537730"/>
          </a:xfrm>
        </p:spPr>
        <p:txBody>
          <a:bodyPr>
            <a:noAutofit/>
          </a:bodyPr>
          <a:lstStyle/>
          <a:p>
            <a:r>
              <a:rPr lang="it-IT" sz="1100" dirty="0"/>
              <a:t>For Network 1, the </a:t>
            </a:r>
            <a:r>
              <a:rPr lang="it-IT" sz="1100" dirty="0" err="1"/>
              <a:t>largest</a:t>
            </a:r>
            <a:r>
              <a:rPr lang="it-IT" sz="1100" dirty="0"/>
              <a:t> </a:t>
            </a:r>
            <a:r>
              <a:rPr lang="it-IT" sz="1100" dirty="0" err="1"/>
              <a:t>connected</a:t>
            </a:r>
            <a:r>
              <a:rPr lang="it-IT" sz="1100" dirty="0"/>
              <a:t> component </a:t>
            </a:r>
            <a:r>
              <a:rPr lang="it-IT" sz="1100" dirty="0" err="1"/>
              <a:t>contains</a:t>
            </a:r>
            <a:r>
              <a:rPr lang="it-IT" sz="1100" dirty="0"/>
              <a:t> </a:t>
            </a:r>
            <a:r>
              <a:rPr lang="it-IT" sz="1100" dirty="0" err="1"/>
              <a:t>about</a:t>
            </a:r>
            <a:r>
              <a:rPr lang="it-IT" sz="1100" dirty="0"/>
              <a:t> 23 </a:t>
            </a:r>
            <a:r>
              <a:rPr lang="it-IT" sz="1100" dirty="0" err="1"/>
              <a:t>thousand</a:t>
            </a:r>
            <a:r>
              <a:rPr lang="it-IT" sz="1100" dirty="0"/>
              <a:t> keywords and </a:t>
            </a:r>
            <a:r>
              <a:rPr lang="it-IT" sz="1100" dirty="0" err="1"/>
              <a:t>Louvain</a:t>
            </a:r>
            <a:r>
              <a:rPr lang="it-IT" sz="1100" dirty="0"/>
              <a:t> </a:t>
            </a:r>
            <a:r>
              <a:rPr lang="it-IT" sz="1100" dirty="0" err="1"/>
              <a:t>finds</a:t>
            </a:r>
            <a:r>
              <a:rPr lang="it-IT" sz="1100" dirty="0"/>
              <a:t> 93 communities, with a </a:t>
            </a:r>
            <a:r>
              <a:rPr lang="it-IT" sz="1100" dirty="0" err="1"/>
              <a:t>modularity</a:t>
            </a:r>
            <a:r>
              <a:rPr lang="it-IT" sz="1100" dirty="0"/>
              <a:t> of </a:t>
            </a:r>
            <a:r>
              <a:rPr lang="it-IT" sz="1100" dirty="0" err="1"/>
              <a:t>about</a:t>
            </a:r>
            <a:r>
              <a:rPr lang="it-IT" sz="1100" dirty="0"/>
              <a:t> 0.61.</a:t>
            </a:r>
          </a:p>
          <a:p>
            <a:r>
              <a:rPr lang="it-IT" sz="1100" dirty="0"/>
              <a:t>Network 2 </a:t>
            </a:r>
            <a:r>
              <a:rPr lang="it-IT" sz="1100" dirty="0" err="1"/>
              <a:t>is</a:t>
            </a:r>
            <a:r>
              <a:rPr lang="it-IT" sz="1100" dirty="0"/>
              <a:t> </a:t>
            </a:r>
            <a:r>
              <a:rPr lang="it-IT" sz="1100" dirty="0" err="1"/>
              <a:t>smaller</a:t>
            </a:r>
            <a:r>
              <a:rPr lang="it-IT" sz="1100" dirty="0"/>
              <a:t>, with </a:t>
            </a:r>
            <a:r>
              <a:rPr lang="it-IT" sz="1100" dirty="0" err="1"/>
              <a:t>about</a:t>
            </a:r>
            <a:r>
              <a:rPr lang="it-IT" sz="1100" dirty="0"/>
              <a:t> 11.8 </a:t>
            </a:r>
            <a:r>
              <a:rPr lang="it-IT" sz="1100" dirty="0" err="1"/>
              <a:t>thousand</a:t>
            </a:r>
            <a:r>
              <a:rPr lang="it-IT" sz="1100" dirty="0"/>
              <a:t> keywords, </a:t>
            </a:r>
            <a:r>
              <a:rPr lang="it-IT" sz="1100" dirty="0" err="1"/>
              <a:t>but</a:t>
            </a:r>
            <a:r>
              <a:rPr lang="it-IT" sz="1100" dirty="0"/>
              <a:t> </a:t>
            </a:r>
            <a:r>
              <a:rPr lang="it-IT" sz="1100" dirty="0" err="1"/>
              <a:t>its</a:t>
            </a:r>
            <a:r>
              <a:rPr lang="it-IT" sz="1100" dirty="0"/>
              <a:t> community </a:t>
            </a:r>
            <a:r>
              <a:rPr lang="it-IT" sz="1100" dirty="0" err="1"/>
              <a:t>structure</a:t>
            </a:r>
            <a:r>
              <a:rPr lang="it-IT" sz="1100" dirty="0"/>
              <a:t> </a:t>
            </a:r>
            <a:r>
              <a:rPr lang="it-IT" sz="1100" dirty="0" err="1"/>
              <a:t>is</a:t>
            </a:r>
            <a:r>
              <a:rPr lang="it-IT" sz="1100" dirty="0"/>
              <a:t> </a:t>
            </a:r>
            <a:r>
              <a:rPr lang="it-IT" sz="1100" dirty="0" err="1"/>
              <a:t>stronger</a:t>
            </a:r>
            <a:r>
              <a:rPr lang="it-IT" sz="1100" dirty="0"/>
              <a:t>: </a:t>
            </a:r>
            <a:r>
              <a:rPr lang="it-IT" sz="1100" dirty="0" err="1"/>
              <a:t>Louvain</a:t>
            </a:r>
            <a:r>
              <a:rPr lang="it-IT" sz="1100" dirty="0"/>
              <a:t> </a:t>
            </a:r>
            <a:r>
              <a:rPr lang="it-IT" sz="1100" dirty="0" err="1"/>
              <a:t>finds</a:t>
            </a:r>
            <a:r>
              <a:rPr lang="it-IT" sz="1100" dirty="0"/>
              <a:t> 40 communities and a </a:t>
            </a:r>
            <a:r>
              <a:rPr lang="it-IT" sz="1100" dirty="0" err="1"/>
              <a:t>higher</a:t>
            </a:r>
            <a:r>
              <a:rPr lang="it-IT" sz="1100" dirty="0"/>
              <a:t> </a:t>
            </a:r>
            <a:r>
              <a:rPr lang="it-IT" sz="1100" dirty="0" err="1"/>
              <a:t>modularity</a:t>
            </a:r>
            <a:r>
              <a:rPr lang="it-IT" sz="1100" dirty="0"/>
              <a:t> of 0.72, with a </a:t>
            </a:r>
            <a:r>
              <a:rPr lang="it-IT" sz="1100" dirty="0" err="1"/>
              <a:t>lower</a:t>
            </a:r>
            <a:r>
              <a:rPr lang="it-IT" sz="1100" dirty="0"/>
              <a:t> </a:t>
            </a:r>
            <a:r>
              <a:rPr lang="it-IT" sz="1100" dirty="0" err="1"/>
              <a:t>average</a:t>
            </a:r>
            <a:r>
              <a:rPr lang="it-IT" sz="1100" dirty="0"/>
              <a:t> </a:t>
            </a:r>
            <a:r>
              <a:rPr lang="it-IT" sz="1100" dirty="0" err="1"/>
              <a:t>Ncut</a:t>
            </a:r>
            <a:r>
              <a:rPr lang="it-IT" sz="1100" dirty="0"/>
              <a:t>.</a:t>
            </a:r>
          </a:p>
          <a:p>
            <a:r>
              <a:rPr lang="it-IT" sz="1100" dirty="0"/>
              <a:t>The agreement </a:t>
            </a:r>
            <a:r>
              <a:rPr lang="it-IT" sz="1100" dirty="0" err="1"/>
              <a:t>between</a:t>
            </a:r>
            <a:r>
              <a:rPr lang="it-IT" sz="1100" dirty="0"/>
              <a:t> </a:t>
            </a:r>
            <a:r>
              <a:rPr lang="it-IT" sz="1100" dirty="0" err="1"/>
              <a:t>Louvain</a:t>
            </a:r>
            <a:r>
              <a:rPr lang="it-IT" sz="1100" dirty="0"/>
              <a:t> and </a:t>
            </a:r>
            <a:r>
              <a:rPr lang="it-IT" sz="1100" dirty="0" err="1"/>
              <a:t>InfoMap</a:t>
            </a:r>
            <a:r>
              <a:rPr lang="it-IT" sz="1100" dirty="0"/>
              <a:t> </a:t>
            </a:r>
            <a:r>
              <a:rPr lang="it-IT" sz="1100" dirty="0" err="1"/>
              <a:t>is</a:t>
            </a:r>
            <a:r>
              <a:rPr lang="it-IT" sz="1100" dirty="0"/>
              <a:t> </a:t>
            </a:r>
            <a:r>
              <a:rPr lang="it-IT" sz="1100" dirty="0" err="1"/>
              <a:t>also</a:t>
            </a:r>
            <a:r>
              <a:rPr lang="it-IT" sz="1100" dirty="0"/>
              <a:t> </a:t>
            </a:r>
            <a:r>
              <a:rPr lang="it-IT" sz="1100" dirty="0" err="1"/>
              <a:t>higher</a:t>
            </a:r>
            <a:r>
              <a:rPr lang="it-IT" sz="1100" dirty="0"/>
              <a:t> for Network 2, with an NMI of </a:t>
            </a:r>
            <a:r>
              <a:rPr lang="it-IT" sz="1100" dirty="0" err="1"/>
              <a:t>about</a:t>
            </a:r>
            <a:r>
              <a:rPr lang="it-IT" sz="1100" dirty="0"/>
              <a:t> 0.71 </a:t>
            </a:r>
            <a:r>
              <a:rPr lang="it-IT" sz="1100" dirty="0" err="1"/>
              <a:t>compared</a:t>
            </a:r>
            <a:r>
              <a:rPr lang="it-IT" sz="1100" dirty="0"/>
              <a:t> with 0.55 for Network 1.</a:t>
            </a:r>
          </a:p>
          <a:p>
            <a:r>
              <a:rPr lang="it-IT" sz="1100" dirty="0"/>
              <a:t>So the semantic network </a:t>
            </a:r>
            <a:r>
              <a:rPr lang="it-IT" sz="1100" dirty="0" err="1"/>
              <a:t>appears</a:t>
            </a:r>
            <a:r>
              <a:rPr lang="it-IT" sz="1100" dirty="0"/>
              <a:t> to produce </a:t>
            </a:r>
            <a:r>
              <a:rPr lang="it-IT" sz="1100" b="1" dirty="0" err="1"/>
              <a:t>fewer</a:t>
            </a:r>
            <a:r>
              <a:rPr lang="it-IT" sz="1100" b="1" dirty="0"/>
              <a:t> and more </a:t>
            </a:r>
            <a:r>
              <a:rPr lang="it-IT" sz="1100" b="1" dirty="0" err="1"/>
              <a:t>cohesive</a:t>
            </a:r>
            <a:r>
              <a:rPr lang="it-IT" sz="1100" b="1" dirty="0"/>
              <a:t> groups</a:t>
            </a:r>
            <a:r>
              <a:rPr lang="it-IT" sz="1100" dirty="0"/>
              <a:t> </a:t>
            </a:r>
            <a:r>
              <a:rPr lang="it-IT" sz="1100" dirty="0" err="1"/>
              <a:t>than</a:t>
            </a:r>
            <a:r>
              <a:rPr lang="it-IT" sz="1100" dirty="0"/>
              <a:t> the </a:t>
            </a:r>
            <a:r>
              <a:rPr lang="it-IT" sz="1100" dirty="0" err="1"/>
              <a:t>simple</a:t>
            </a:r>
            <a:r>
              <a:rPr lang="it-IT" sz="1100" dirty="0"/>
              <a:t> co-</a:t>
            </a:r>
            <a:r>
              <a:rPr lang="it-IT" sz="1100" dirty="0" err="1"/>
              <a:t>occurrence</a:t>
            </a:r>
            <a:r>
              <a:rPr lang="it-IT" sz="1100" dirty="0"/>
              <a:t> network.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E3ECF0-BD35-C8C4-DA07-7C0FDA812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350255"/>
              </p:ext>
            </p:extLst>
          </p:nvPr>
        </p:nvGraphicFramePr>
        <p:xfrm>
          <a:off x="4809893" y="2195134"/>
          <a:ext cx="4044175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57350">
                  <a:extLst>
                    <a:ext uri="{9D8B030D-6E8A-4147-A177-3AD203B41FA5}">
                      <a16:colId xmlns:a16="http://schemas.microsoft.com/office/drawing/2014/main" val="3342360022"/>
                    </a:ext>
                  </a:extLst>
                </a:gridCol>
                <a:gridCol w="1038610">
                  <a:extLst>
                    <a:ext uri="{9D8B030D-6E8A-4147-A177-3AD203B41FA5}">
                      <a16:colId xmlns:a16="http://schemas.microsoft.com/office/drawing/2014/main" val="292989394"/>
                    </a:ext>
                  </a:extLst>
                </a:gridCol>
                <a:gridCol w="1048215">
                  <a:extLst>
                    <a:ext uri="{9D8B030D-6E8A-4147-A177-3AD203B41FA5}">
                      <a16:colId xmlns:a16="http://schemas.microsoft.com/office/drawing/2014/main" val="143508268"/>
                    </a:ext>
                  </a:extLst>
                </a:gridCol>
              </a:tblGrid>
              <a:tr h="2868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it-IT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/>
                        <a:t>Network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/>
                        <a:t>Network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235027"/>
                  </a:ext>
                </a:extLst>
              </a:tr>
              <a:tr h="241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Nodes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/>
                        <a:t>23,201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/>
                        <a:t>11,815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125137"/>
                  </a:ext>
                </a:extLst>
              </a:tr>
              <a:tr h="241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Louvain communities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dirty="0"/>
                        <a:t>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187355"/>
                  </a:ext>
                </a:extLst>
              </a:tr>
              <a:tr h="241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Modularity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/>
                        <a:t>0.606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/>
                        <a:t>0.717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601608"/>
                  </a:ext>
                </a:extLst>
              </a:tr>
              <a:tr h="241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Avg. Ncut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/>
                        <a:t>0.199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/>
                        <a:t>0.129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6198309"/>
                  </a:ext>
                </a:extLst>
              </a:tr>
              <a:tr h="241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Louvain</a:t>
                      </a:r>
                      <a:r>
                        <a:rPr lang="it-IT" sz="1400" dirty="0"/>
                        <a:t>–</a:t>
                      </a:r>
                      <a:r>
                        <a:rPr lang="it-IT" sz="1400" dirty="0" err="1"/>
                        <a:t>InfoMap</a:t>
                      </a:r>
                      <a:r>
                        <a:rPr lang="it-IT" sz="1400" dirty="0"/>
                        <a:t> NMI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/>
                        <a:t>0.554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dirty="0"/>
                        <a:t>0.714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1727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232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C38D-3379-54FB-9834-1FBE8DD8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Communities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47029-422A-B3CC-1DAC-32C746A59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1" y="2078875"/>
            <a:ext cx="4764384" cy="2261100"/>
          </a:xfrm>
        </p:spPr>
        <p:txBody>
          <a:bodyPr>
            <a:noAutofit/>
          </a:bodyPr>
          <a:lstStyle/>
          <a:p>
            <a:r>
              <a:rPr lang="it-IT" sz="1100" dirty="0" err="1"/>
              <a:t>Looking</a:t>
            </a:r>
            <a:r>
              <a:rPr lang="it-IT" sz="1100" dirty="0"/>
              <a:t> </a:t>
            </a:r>
            <a:r>
              <a:rPr lang="it-IT" sz="1100" dirty="0" err="1"/>
              <a:t>at</a:t>
            </a:r>
            <a:r>
              <a:rPr lang="it-IT" sz="1100" dirty="0"/>
              <a:t> the communities, </a:t>
            </a:r>
            <a:r>
              <a:rPr lang="it-IT" sz="1100" dirty="0" err="1"/>
              <a:t>they</a:t>
            </a:r>
            <a:r>
              <a:rPr lang="it-IT" sz="1100" dirty="0"/>
              <a:t> are </a:t>
            </a:r>
            <a:r>
              <a:rPr lang="it-IT" sz="1100" dirty="0" err="1"/>
              <a:t>not</a:t>
            </a:r>
            <a:r>
              <a:rPr lang="it-IT" sz="1100" dirty="0"/>
              <a:t> just </a:t>
            </a:r>
            <a:r>
              <a:rPr lang="it-IT" sz="1100" dirty="0" err="1"/>
              <a:t>mathematical</a:t>
            </a:r>
            <a:r>
              <a:rPr lang="it-IT" sz="1100" dirty="0"/>
              <a:t> clusters: </a:t>
            </a:r>
            <a:r>
              <a:rPr lang="it-IT" sz="1100" dirty="0" err="1"/>
              <a:t>they</a:t>
            </a:r>
            <a:r>
              <a:rPr lang="it-IT" sz="1100" dirty="0"/>
              <a:t> </a:t>
            </a:r>
            <a:r>
              <a:rPr lang="it-IT" sz="1100" dirty="0" err="1"/>
              <a:t>correspond</a:t>
            </a:r>
            <a:r>
              <a:rPr lang="it-IT" sz="1100" dirty="0"/>
              <a:t> to </a:t>
            </a:r>
            <a:r>
              <a:rPr lang="it-IT" sz="1100" dirty="0" err="1"/>
              <a:t>recognizable</a:t>
            </a:r>
            <a:r>
              <a:rPr lang="it-IT" sz="1100" dirty="0"/>
              <a:t> </a:t>
            </a:r>
            <a:r>
              <a:rPr lang="it-IT" sz="1100" dirty="0" err="1"/>
              <a:t>scientific</a:t>
            </a:r>
            <a:r>
              <a:rPr lang="it-IT" sz="1100" dirty="0"/>
              <a:t> </a:t>
            </a:r>
            <a:r>
              <a:rPr lang="it-IT" sz="1100" dirty="0" err="1"/>
              <a:t>areas</a:t>
            </a:r>
            <a:r>
              <a:rPr lang="it-IT" sz="1100" dirty="0"/>
              <a:t>, </a:t>
            </a:r>
            <a:r>
              <a:rPr lang="it-IT" sz="1100" dirty="0" err="1"/>
              <a:t>such</a:t>
            </a:r>
            <a:r>
              <a:rPr lang="it-IT" sz="1100" dirty="0"/>
              <a:t> </a:t>
            </a:r>
            <a:r>
              <a:rPr lang="it-IT" sz="1100" dirty="0" err="1"/>
              <a:t>as</a:t>
            </a:r>
            <a:r>
              <a:rPr lang="it-IT" sz="1100" dirty="0"/>
              <a:t> social media, </a:t>
            </a:r>
            <a:r>
              <a:rPr lang="it-IT" sz="1100" dirty="0" err="1"/>
              <a:t>education</a:t>
            </a:r>
            <a:r>
              <a:rPr lang="it-IT" sz="1100" dirty="0"/>
              <a:t> or </a:t>
            </a:r>
            <a:r>
              <a:rPr lang="it-IT" sz="1100" dirty="0" err="1"/>
              <a:t>robotics</a:t>
            </a:r>
            <a:r>
              <a:rPr lang="it-IT" sz="1100" dirty="0"/>
              <a:t>.</a:t>
            </a:r>
          </a:p>
          <a:p>
            <a:r>
              <a:rPr lang="it-IT" sz="1100" b="1" dirty="0" err="1"/>
              <a:t>Main</a:t>
            </a:r>
            <a:r>
              <a:rPr lang="it-IT" sz="1100" b="1" dirty="0"/>
              <a:t> </a:t>
            </a:r>
            <a:r>
              <a:rPr lang="it-IT" sz="1100" b="1" dirty="0" err="1"/>
              <a:t>difference</a:t>
            </a:r>
            <a:r>
              <a:rPr lang="it-IT" sz="1100" dirty="0"/>
              <a:t>: </a:t>
            </a:r>
          </a:p>
          <a:p>
            <a:pPr lvl="1"/>
            <a:r>
              <a:rPr lang="it-IT" dirty="0"/>
              <a:t>Network 1: groups keywords </a:t>
            </a:r>
            <a:r>
              <a:rPr lang="it-IT" dirty="0" err="1"/>
              <a:t>according</a:t>
            </a:r>
            <a:r>
              <a:rPr lang="it-IT" dirty="0"/>
              <a:t> to </a:t>
            </a:r>
            <a:r>
              <a:rPr lang="it-IT" b="1" dirty="0" err="1"/>
              <a:t>what</a:t>
            </a:r>
            <a:r>
              <a:rPr lang="it-IT" b="1" dirty="0"/>
              <a:t> </a:t>
            </a:r>
            <a:r>
              <a:rPr lang="it-IT" b="1" dirty="0" err="1"/>
              <a:t>appears</a:t>
            </a:r>
            <a:r>
              <a:rPr lang="it-IT" b="1" dirty="0"/>
              <a:t> </a:t>
            </a:r>
            <a:r>
              <a:rPr lang="it-IT" b="1" dirty="0" err="1"/>
              <a:t>together</a:t>
            </a:r>
            <a:endParaRPr lang="it-IT" b="1" dirty="0"/>
          </a:p>
          <a:p>
            <a:pPr lvl="1"/>
            <a:r>
              <a:rPr lang="it-IT" dirty="0"/>
              <a:t>Network 2: groups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according</a:t>
            </a:r>
            <a:r>
              <a:rPr lang="it-IT" dirty="0"/>
              <a:t> to </a:t>
            </a:r>
            <a:r>
              <a:rPr lang="it-IT" b="1" dirty="0" err="1"/>
              <a:t>similar</a:t>
            </a:r>
            <a:r>
              <a:rPr lang="it-IT" b="1" dirty="0"/>
              <a:t> patterns of agency and </a:t>
            </a:r>
            <a:r>
              <a:rPr lang="it-IT" b="1" dirty="0" err="1"/>
              <a:t>communion</a:t>
            </a:r>
            <a:r>
              <a:rPr lang="it-IT" dirty="0"/>
              <a:t>.</a:t>
            </a:r>
          </a:p>
          <a:p>
            <a:r>
              <a:rPr lang="it-IT" sz="1100" dirty="0"/>
              <a:t>Overall, the </a:t>
            </a:r>
            <a:r>
              <a:rPr lang="it-IT" sz="1100" dirty="0" err="1"/>
              <a:t>analysis</a:t>
            </a:r>
            <a:r>
              <a:rPr lang="it-IT" sz="1100" dirty="0"/>
              <a:t> </a:t>
            </a:r>
            <a:r>
              <a:rPr lang="it-IT" sz="1100" dirty="0" err="1"/>
              <a:t>suggests</a:t>
            </a:r>
            <a:r>
              <a:rPr lang="it-IT" sz="1100" dirty="0"/>
              <a:t> </a:t>
            </a:r>
            <a:r>
              <a:rPr lang="it-IT" sz="1100" dirty="0" err="1"/>
              <a:t>that</a:t>
            </a:r>
            <a:r>
              <a:rPr lang="it-IT" sz="1100" dirty="0"/>
              <a:t> </a:t>
            </a:r>
            <a:r>
              <a:rPr lang="it-IT" sz="1100" dirty="0" err="1"/>
              <a:t>scientific</a:t>
            </a:r>
            <a:r>
              <a:rPr lang="it-IT" sz="1100" dirty="0"/>
              <a:t> </a:t>
            </a:r>
            <a:r>
              <a:rPr lang="it-IT" sz="1100" dirty="0" err="1"/>
              <a:t>vocabulary</a:t>
            </a:r>
            <a:r>
              <a:rPr lang="it-IT" sz="1100" dirty="0"/>
              <a:t> </a:t>
            </a:r>
            <a:r>
              <a:rPr lang="it-IT" sz="1100" dirty="0" err="1"/>
              <a:t>has</a:t>
            </a:r>
            <a:r>
              <a:rPr lang="it-IT" sz="1100" dirty="0"/>
              <a:t> a strong, non-random network </a:t>
            </a:r>
            <a:r>
              <a:rPr lang="it-IT" sz="1100" dirty="0" err="1"/>
              <a:t>structure</a:t>
            </a:r>
            <a:r>
              <a:rPr lang="it-IT" sz="1100" dirty="0"/>
              <a:t>, and </a:t>
            </a:r>
            <a:r>
              <a:rPr lang="it-IT" sz="1100" dirty="0" err="1"/>
              <a:t>that</a:t>
            </a:r>
            <a:r>
              <a:rPr lang="it-IT" sz="1100" dirty="0"/>
              <a:t> gender </a:t>
            </a:r>
            <a:r>
              <a:rPr lang="it-IT" sz="1100" dirty="0" err="1"/>
              <a:t>associations</a:t>
            </a:r>
            <a:r>
              <a:rPr lang="it-IT" sz="1100" dirty="0"/>
              <a:t> can be </a:t>
            </a:r>
            <a:r>
              <a:rPr lang="it-IT" sz="1100" dirty="0" err="1"/>
              <a:t>studied</a:t>
            </a:r>
            <a:r>
              <a:rPr lang="it-IT" sz="1100" dirty="0"/>
              <a:t> </a:t>
            </a:r>
            <a:r>
              <a:rPr lang="it-IT" sz="1100" dirty="0" err="1"/>
              <a:t>alongside</a:t>
            </a:r>
            <a:r>
              <a:rPr lang="it-IT" sz="1100" dirty="0"/>
              <a:t> </a:t>
            </a:r>
            <a:r>
              <a:rPr lang="it-IT" sz="1100" dirty="0" err="1"/>
              <a:t>this</a:t>
            </a:r>
            <a:r>
              <a:rPr lang="it-IT" sz="1100" dirty="0"/>
              <a:t> </a:t>
            </a:r>
            <a:r>
              <a:rPr lang="it-IT" sz="1100" dirty="0" err="1"/>
              <a:t>structure</a:t>
            </a:r>
            <a:r>
              <a:rPr lang="it-IT" sz="1100" dirty="0"/>
              <a:t> </a:t>
            </a:r>
            <a:r>
              <a:rPr lang="it-IT" sz="1100" dirty="0" err="1"/>
              <a:t>rather</a:t>
            </a:r>
            <a:r>
              <a:rPr lang="it-IT" sz="1100" dirty="0"/>
              <a:t> </a:t>
            </a:r>
            <a:r>
              <a:rPr lang="it-IT" sz="1100" dirty="0" err="1"/>
              <a:t>than</a:t>
            </a:r>
            <a:r>
              <a:rPr lang="it-IT" sz="1100" dirty="0"/>
              <a:t> </a:t>
            </a:r>
            <a:r>
              <a:rPr lang="it-IT" sz="1100" dirty="0" err="1"/>
              <a:t>only</a:t>
            </a:r>
            <a:r>
              <a:rPr lang="it-IT" sz="1100" dirty="0"/>
              <a:t> keyword by keyword.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8B944-E048-37F9-C717-D99423CBCCFF}"/>
              </a:ext>
            </a:extLst>
          </p:cNvPr>
          <p:cNvSpPr txBox="1"/>
          <p:nvPr/>
        </p:nvSpPr>
        <p:spPr>
          <a:xfrm>
            <a:off x="6683298" y="163551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7" name="Google Shape;139;p19">
            <a:extLst>
              <a:ext uri="{FF2B5EF4-FFF2-40B4-BE49-F238E27FC236}">
                <a16:creationId xmlns:a16="http://schemas.microsoft.com/office/drawing/2014/main" id="{E8E3D403-102A-7176-24BA-2C96DEF47EAB}"/>
              </a:ext>
            </a:extLst>
          </p:cNvPr>
          <p:cNvSpPr txBox="1">
            <a:spLocks/>
          </p:cNvSpPr>
          <p:nvPr/>
        </p:nvSpPr>
        <p:spPr>
          <a:xfrm>
            <a:off x="5493835" y="2078875"/>
            <a:ext cx="3844350" cy="17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it-IT" sz="1100" b="1" dirty="0"/>
              <a:t>Network 1</a:t>
            </a:r>
          </a:p>
          <a:p>
            <a:pPr lvl="1"/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Social media, health &amp; </a:t>
            </a:r>
            <a:r>
              <a:rPr lang="it-IT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education</a:t>
            </a:r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lvl="1"/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Hardware &amp; HPC </a:t>
            </a:r>
          </a:p>
          <a:p>
            <a:pPr lvl="1"/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Other large </a:t>
            </a:r>
            <a:r>
              <a:rPr lang="it-IT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topical</a:t>
            </a:r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clusters </a:t>
            </a:r>
          </a:p>
          <a:p>
            <a:r>
              <a:rPr lang="it-IT" sz="11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Network 2</a:t>
            </a:r>
          </a:p>
          <a:p>
            <a:pPr lvl="1"/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Social media, health &amp; </a:t>
            </a:r>
            <a:r>
              <a:rPr lang="it-IT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education</a:t>
            </a:r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lvl="1"/>
            <a:r>
              <a:rPr lang="it-IT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Robotics</a:t>
            </a:r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&amp; </a:t>
            </a:r>
            <a:r>
              <a:rPr lang="it-IT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autonomous</a:t>
            </a:r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it-IT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navigation</a:t>
            </a:r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lvl="1"/>
            <a:r>
              <a:rPr lang="it-I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More compact semantic </a:t>
            </a:r>
            <a:r>
              <a:rPr lang="it-IT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structure</a:t>
            </a:r>
            <a:endParaRPr lang="it-IT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07931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T</a:t>
            </a:r>
            <a:r>
              <a:rPr lang="it-IT" dirty="0"/>
              <a:t>h</a:t>
            </a:r>
            <a:r>
              <a:rPr lang="it" dirty="0"/>
              <a:t>anks for your attention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727</Words>
  <Application>Microsoft Office PowerPoint</Application>
  <PresentationFormat>On-screen Show (16:9)</PresentationFormat>
  <Paragraphs>95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Lato</vt:lpstr>
      <vt:lpstr>Arial</vt:lpstr>
      <vt:lpstr>Raleway</vt:lpstr>
      <vt:lpstr>Streamline</vt:lpstr>
      <vt:lpstr>Analysis of scientific publishing data</vt:lpstr>
      <vt:lpstr>Introduction and objective</vt:lpstr>
      <vt:lpstr>Dataset and keyword extraction</vt:lpstr>
      <vt:lpstr>Measuring Agency, Communion and Gender Bias</vt:lpstr>
      <vt:lpstr>Gender bias</vt:lpstr>
      <vt:lpstr>Network structure</vt:lpstr>
      <vt:lpstr>Network structure</vt:lpstr>
      <vt:lpstr>Communities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Dakota Calori</dc:creator>
  <cp:lastModifiedBy>Dakota Davide Calori</cp:lastModifiedBy>
  <cp:revision>8</cp:revision>
  <dcterms:modified xsi:type="dcterms:W3CDTF">2026-09-07T08:52:50Z</dcterms:modified>
</cp:coreProperties>
</file>